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5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8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9525"/>
            <a:ext cx="12191365" cy="690308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9260" y="149225"/>
            <a:ext cx="10610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全球智能体（</a:t>
            </a:r>
            <a:r>
              <a:rPr lang="en-US" altLang="zh-CN" sz="3200">
                <a:solidFill>
                  <a:schemeClr val="bg1"/>
                </a:solidFill>
                <a:sym typeface="+mn-ea"/>
              </a:rPr>
              <a:t>AI Agent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）产业发展与开源生态综合研究报告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47065" y="1359535"/>
            <a:ext cx="11188700" cy="51257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24915" y="1541780"/>
            <a:ext cx="9901555" cy="4761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olidFill>
                  <a:schemeClr val="bg1"/>
                </a:solidFill>
              </a:rPr>
              <a:t>       </a:t>
            </a:r>
            <a:r>
              <a:rPr lang="zh-CN" altLang="en-US" sz="2800">
                <a:solidFill>
                  <a:schemeClr val="bg1"/>
                </a:solidFill>
              </a:rPr>
              <a:t>本报告对全球智能体产业发展现状、技术路径、开源生态及区域差异进行综合分析。研究发现，全球产业在大模型能力跃迁和经济现实压力的双重作用下，正加速从技术演示向价值驱动的规模化应用转变。中美两国引领技术发展但路径迥异：美国以基础模型与通用框架创新为核心，构建开放生态；中国则以垂直行业应用落地和工程化集成见长，形成快速迭代的解决方案市场。全球开源生态已成为技术融合与创新的核心试验场，推动智能体向多模态协作、标准化与具身化演进。然而，技术可控性、商业化闭环与全球治理合作仍是产业面临的共同挑战。</a:t>
            </a:r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55965" y="59048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报告人：陈松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9525"/>
            <a:ext cx="12191365" cy="690308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9260" y="149225"/>
            <a:ext cx="10610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一、全球产业发展全景：双引擎驱动下的战略竞合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955" y="886460"/>
            <a:ext cx="12181205" cy="60185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1205" y="1329690"/>
            <a:ext cx="4761230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</a:rPr>
              <a:t>、</a:t>
            </a:r>
            <a:r>
              <a:rPr lang="en-US" altLang="zh-CN" sz="2400">
                <a:solidFill>
                  <a:schemeClr val="bg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核心驱动力与市场阶段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0590" y="1885950"/>
            <a:ext cx="10351135" cy="3927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        </a:t>
            </a:r>
            <a:r>
              <a:rPr lang="zh-CN" altLang="en-US">
                <a:solidFill>
                  <a:schemeClr val="bg1"/>
                </a:solidFill>
              </a:rPr>
              <a:t>当前全球智能体发展由两大矛盾且统一的引擎驱动：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olidFill>
                  <a:schemeClr val="bg1"/>
                </a:solidFill>
              </a:rPr>
              <a:t>        1.1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zh-CN" altLang="en-US" b="1">
                <a:solidFill>
                  <a:schemeClr val="bg1"/>
                </a:solidFill>
              </a:rPr>
              <a:t>技术推力</a:t>
            </a:r>
            <a:r>
              <a:rPr lang="zh-CN" altLang="en-US">
                <a:solidFill>
                  <a:schemeClr val="bg1"/>
                </a:solidFill>
              </a:rPr>
              <a:t>：大模型，尤其是闭源模型在复杂推理、长上下文和工具调用能力上的突破，为智</a:t>
            </a:r>
            <a:r>
              <a:rPr lang="en-US" altLang="zh-CN">
                <a:solidFill>
                  <a:schemeClr val="bg1"/>
                </a:solidFill>
              </a:rPr>
              <a:t>          </a:t>
            </a:r>
            <a:r>
              <a:rPr lang="zh-CN" altLang="en-US">
                <a:solidFill>
                  <a:schemeClr val="bg1"/>
                </a:solidFill>
              </a:rPr>
              <a:t>能体提供了前所未有的</a:t>
            </a:r>
            <a:r>
              <a:rPr lang="en-US" altLang="zh-CN">
                <a:solidFill>
                  <a:schemeClr val="bg1"/>
                </a:solidFill>
              </a:rPr>
              <a:t>“</a:t>
            </a:r>
            <a:r>
              <a:rPr lang="zh-CN" altLang="en-US">
                <a:solidFill>
                  <a:schemeClr val="bg1"/>
                </a:solidFill>
              </a:rPr>
              <a:t>大脑</a:t>
            </a:r>
            <a:r>
              <a:rPr lang="en-US" altLang="zh-CN">
                <a:solidFill>
                  <a:schemeClr val="bg1"/>
                </a:solidFill>
              </a:rPr>
              <a:t>”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  <a:r>
              <a:rPr lang="en-US" altLang="zh-CN">
                <a:solidFill>
                  <a:schemeClr val="bg1"/>
                </a:solidFill>
              </a:rPr>
              <a:t>OpenAI</a:t>
            </a:r>
            <a:r>
              <a:rPr lang="zh-CN" altLang="en-US">
                <a:solidFill>
                  <a:schemeClr val="bg1"/>
                </a:solidFill>
              </a:rPr>
              <a:t>的</a:t>
            </a:r>
            <a:r>
              <a:rPr lang="en-US" altLang="zh-CN">
                <a:solidFill>
                  <a:schemeClr val="bg1"/>
                </a:solidFill>
              </a:rPr>
              <a:t>o1</a:t>
            </a:r>
            <a:r>
              <a:rPr lang="zh-CN" altLang="en-US">
                <a:solidFill>
                  <a:schemeClr val="bg1"/>
                </a:solidFill>
              </a:rPr>
              <a:t>系列、</a:t>
            </a:r>
            <a:r>
              <a:rPr lang="en-US" altLang="zh-CN">
                <a:solidFill>
                  <a:schemeClr val="bg1"/>
                </a:solidFill>
              </a:rPr>
              <a:t>Anthropic</a:t>
            </a:r>
            <a:r>
              <a:rPr lang="zh-CN" altLang="en-US">
                <a:solidFill>
                  <a:schemeClr val="bg1"/>
                </a:solidFill>
              </a:rPr>
              <a:t>的</a:t>
            </a:r>
            <a:r>
              <a:rPr lang="en-US" altLang="zh-CN">
                <a:solidFill>
                  <a:schemeClr val="bg1"/>
                </a:solidFill>
              </a:rPr>
              <a:t>Claude 3.5 Sonnet</a:t>
            </a:r>
            <a:r>
              <a:rPr lang="zh-CN" altLang="en-US">
                <a:solidFill>
                  <a:schemeClr val="bg1"/>
                </a:solidFill>
              </a:rPr>
              <a:t>及谷歌的</a:t>
            </a:r>
            <a:r>
              <a:rPr lang="en-US" altLang="zh-CN">
                <a:solidFill>
                  <a:schemeClr val="bg1"/>
                </a:solidFill>
              </a:rPr>
              <a:t>Gemini</a:t>
            </a:r>
            <a:r>
              <a:rPr lang="zh-CN" altLang="en-US">
                <a:solidFill>
                  <a:schemeClr val="bg1"/>
                </a:solidFill>
              </a:rPr>
              <a:t>系列在规划与执行基准测试上的优异表现，直接定义了智能体的能力上限。</a:t>
            </a:r>
            <a:endParaRPr lang="zh-CN" altLang="en-US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        1.2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zh-CN" altLang="en-US" b="1">
                <a:solidFill>
                  <a:schemeClr val="bg1"/>
                </a:solidFill>
              </a:rPr>
              <a:t>经济拉力：</a:t>
            </a:r>
            <a:r>
              <a:rPr lang="zh-CN" altLang="en-US">
                <a:solidFill>
                  <a:schemeClr val="bg1"/>
                </a:solidFill>
              </a:rPr>
              <a:t>全球宏观经济对降本增效的迫切需求，迫使企业积极寻求</a:t>
            </a:r>
            <a:r>
              <a:rPr lang="en-US" altLang="zh-CN">
                <a:solidFill>
                  <a:schemeClr val="bg1"/>
                </a:solidFill>
              </a:rPr>
              <a:t>AI</a:t>
            </a:r>
            <a:r>
              <a:rPr lang="zh-CN" altLang="en-US">
                <a:solidFill>
                  <a:schemeClr val="bg1"/>
                </a:solidFill>
              </a:rPr>
              <a:t>自动化方案。这推动智</a:t>
            </a:r>
            <a:r>
              <a:rPr lang="en-US" altLang="zh-CN">
                <a:solidFill>
                  <a:schemeClr val="bg1"/>
                </a:solidFill>
              </a:rPr>
              <a:t>  </a:t>
            </a:r>
            <a:r>
              <a:rPr lang="zh-CN" altLang="en-US">
                <a:solidFill>
                  <a:schemeClr val="bg1"/>
                </a:solidFill>
              </a:rPr>
              <a:t>能体从</a:t>
            </a:r>
            <a:r>
              <a:rPr lang="en-US" altLang="zh-CN">
                <a:solidFill>
                  <a:schemeClr val="bg1"/>
                </a:solidFill>
              </a:rPr>
              <a:t>“</a:t>
            </a:r>
            <a:r>
              <a:rPr lang="zh-CN" altLang="en-US">
                <a:solidFill>
                  <a:schemeClr val="bg1"/>
                </a:solidFill>
              </a:rPr>
              <a:t>锦上添花</a:t>
            </a:r>
            <a:r>
              <a:rPr lang="en-US" altLang="zh-CN">
                <a:solidFill>
                  <a:schemeClr val="bg1"/>
                </a:solidFill>
              </a:rPr>
              <a:t>”</a:t>
            </a:r>
            <a:r>
              <a:rPr lang="zh-CN" altLang="en-US">
                <a:solidFill>
                  <a:schemeClr val="bg1"/>
                </a:solidFill>
              </a:rPr>
              <a:t>的演示工具，转向解决实际业务痛点、具有明确投资回报率的生产力工具。</a:t>
            </a:r>
            <a:endParaRPr lang="zh-CN" altLang="en-US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全球市场正处于</a:t>
            </a:r>
            <a:r>
              <a:rPr lang="en-US" altLang="zh-CN">
                <a:solidFill>
                  <a:schemeClr val="bg1"/>
                </a:solidFill>
              </a:rPr>
              <a:t> “</a:t>
            </a:r>
            <a:r>
              <a:rPr lang="zh-CN" altLang="en-US">
                <a:solidFill>
                  <a:schemeClr val="bg1"/>
                </a:solidFill>
              </a:rPr>
              <a:t>早期商业化爬坡期</a:t>
            </a:r>
            <a:r>
              <a:rPr lang="en-US" altLang="zh-CN">
                <a:solidFill>
                  <a:schemeClr val="bg1"/>
                </a:solidFill>
              </a:rPr>
              <a:t>” </a:t>
            </a:r>
            <a:r>
              <a:rPr lang="zh-CN" altLang="en-US">
                <a:solidFill>
                  <a:schemeClr val="bg1"/>
                </a:solidFill>
              </a:rPr>
              <a:t>。据行业分析，到</a:t>
            </a:r>
            <a:r>
              <a:rPr lang="en-US" altLang="zh-CN">
                <a:solidFill>
                  <a:schemeClr val="bg1"/>
                </a:solidFill>
              </a:rPr>
              <a:t>2024</a:t>
            </a:r>
            <a:r>
              <a:rPr lang="zh-CN" altLang="en-US">
                <a:solidFill>
                  <a:schemeClr val="bg1"/>
                </a:solidFill>
              </a:rPr>
              <a:t>年底，全球超过</a:t>
            </a:r>
            <a:r>
              <a:rPr lang="en-US" altLang="zh-CN">
                <a:solidFill>
                  <a:schemeClr val="bg1"/>
                </a:solidFill>
              </a:rPr>
              <a:t>60%</a:t>
            </a:r>
            <a:r>
              <a:rPr lang="zh-CN" altLang="en-US">
                <a:solidFill>
                  <a:schemeClr val="bg1"/>
                </a:solidFill>
              </a:rPr>
              <a:t>的企业已在至少一个业务单元中试点或部署</a:t>
            </a:r>
            <a:r>
              <a:rPr lang="en-US" altLang="zh-CN">
                <a:solidFill>
                  <a:schemeClr val="bg1"/>
                </a:solidFill>
              </a:rPr>
              <a:t>AI</a:t>
            </a:r>
            <a:r>
              <a:rPr lang="zh-CN" altLang="en-US">
                <a:solidFill>
                  <a:schemeClr val="bg1"/>
                </a:solidFill>
              </a:rPr>
              <a:t>智能体，但大多数项目尚未达到全企业范围推广的成熟度。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9525"/>
            <a:ext cx="12191365" cy="690308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9260" y="149225"/>
            <a:ext cx="10996295" cy="678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一、全球产业发展全景：双引擎驱动下的战略竞合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  <a:p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875030"/>
            <a:ext cx="11826875" cy="58858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97205" y="1107440"/>
            <a:ext cx="4801870" cy="6527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/>
              <a:t>2</a:t>
            </a:r>
            <a:r>
              <a:rPr lang="zh-CN" altLang="en-US" sz="2400"/>
              <a:t>、</a:t>
            </a:r>
            <a:r>
              <a:rPr lang="en-US" altLang="zh-CN" sz="2400"/>
              <a:t> </a:t>
            </a:r>
            <a:r>
              <a:rPr lang="zh-CN" altLang="en-US" sz="2400"/>
              <a:t>中美发展路径对比分析</a:t>
            </a:r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772795" y="1984375"/>
            <a:ext cx="11630660" cy="699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</a:rPr>
              <a:t>中美作为全球</a:t>
            </a:r>
            <a:r>
              <a:rPr lang="en-US" altLang="zh-CN" sz="2400">
                <a:solidFill>
                  <a:schemeClr val="bg1"/>
                </a:solidFill>
              </a:rPr>
              <a:t>AI</a:t>
            </a:r>
            <a:r>
              <a:rPr lang="zh-CN" altLang="en-US" sz="2400">
                <a:solidFill>
                  <a:schemeClr val="bg1"/>
                </a:solidFill>
              </a:rPr>
              <a:t>发展的两极，在智能体领域呈现出鲜明的战略差异与互补格局</a:t>
            </a:r>
            <a:endParaRPr lang="zh-CN" altLang="en-US" sz="2400">
              <a:solidFill>
                <a:schemeClr val="bg1"/>
              </a:solidFill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901065" y="2498090"/>
          <a:ext cx="9878060" cy="588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5915"/>
                <a:gridCol w="5033010"/>
                <a:gridCol w="32391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维度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美国生态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中国生态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核心驱动力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基础研究与技术原生创新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应用场景与商业模式创新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主导力量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科技巨头（</a:t>
                      </a:r>
                      <a:r>
                        <a:rPr lang="en-US" altLang="zh-CN"/>
                        <a:t>OpenAI, Anthropic, Google, Meta</a:t>
                      </a:r>
                      <a:r>
                        <a:rPr lang="zh-CN" altLang="en-US"/>
                        <a:t>）、明星初创公司、顶尖高校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互联网大厂（阿里、腾讯、字节）、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公司（智谱、深度求索）、活跃的开发者社区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技术焦点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追求通用人工智能（</a:t>
                      </a:r>
                      <a:r>
                        <a:rPr lang="en-US" altLang="zh-CN"/>
                        <a:t>AGI</a:t>
                      </a:r>
                      <a:r>
                        <a:rPr lang="zh-CN" altLang="en-US"/>
                        <a:t>）前沿，探索智能体的根本性能力突破（如自我进化、复杂推理）。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聚焦</a:t>
                      </a:r>
                      <a:r>
                        <a:rPr lang="en-US" altLang="zh-CN"/>
                        <a:t>“</a:t>
                      </a:r>
                      <a:r>
                        <a:rPr lang="zh-CN" altLang="en-US"/>
                        <a:t>大模型</a:t>
                      </a:r>
                      <a:r>
                        <a:rPr lang="en-US" altLang="zh-CN"/>
                        <a:t>+”</a:t>
                      </a:r>
                      <a:r>
                        <a:rPr lang="zh-CN" altLang="en-US"/>
                        <a:t>的产业赋能，强调在制造、政务、金融、电商等特定场景下的可靠落地。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开源策略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激进开源：通过开源核心框架（如</a:t>
                      </a:r>
                      <a:r>
                        <a:rPr lang="en-US" altLang="zh-CN"/>
                        <a:t>Meta</a:t>
                      </a:r>
                      <a:r>
                        <a:rPr lang="zh-CN" altLang="en-US"/>
                        <a:t>的</a:t>
                      </a:r>
                      <a:r>
                        <a:rPr lang="en-US" altLang="zh-CN"/>
                        <a:t>Llama</a:t>
                      </a:r>
                      <a:r>
                        <a:rPr lang="zh-CN" altLang="en-US"/>
                        <a:t>、微软的</a:t>
                      </a:r>
                      <a:r>
                        <a:rPr lang="en-US" altLang="zh-CN"/>
                        <a:t>AutoGen</a:t>
                      </a:r>
                      <a:r>
                        <a:rPr lang="zh-CN" altLang="en-US"/>
                        <a:t>）建立生态标准，吸引全球开发者，巩固技术领导力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务实开源：在模型层面（如</a:t>
                      </a:r>
                      <a:r>
                        <a:rPr lang="en-US" altLang="zh-CN"/>
                        <a:t>Qwen</a:t>
                      </a:r>
                      <a:r>
                        <a:rPr lang="zh-CN" altLang="en-US"/>
                        <a:t>、</a:t>
                      </a:r>
                      <a:r>
                        <a:rPr lang="en-US" altLang="zh-CN"/>
                        <a:t>DeepSeek</a:t>
                      </a:r>
                      <a:r>
                        <a:rPr lang="zh-CN" altLang="en-US"/>
                        <a:t>）积极开源，但在智能体框架与应用层，更多是科技公司为构建自身生态而部分开源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理论创新、基础软件生态、全球开发者号召力、资本密集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海量应用场景、快速工程化能力、完整的数字化产业链、强大的政府与产业协同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挑战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商业化落地节奏有时偏慢，面临严格的合规与伦理审查。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在顶尖基础模型原创性上仍有差距，受国际芯片等供应链制约较大。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9525"/>
            <a:ext cx="12191365" cy="690308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9260" y="149225"/>
            <a:ext cx="10610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二、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技术架构演进与开源生态图谱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05865" y="8991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</a:rPr>
              <a:t>、主流技术架构范式融合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46225" y="1449070"/>
            <a:ext cx="9196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全球开源社区已收敛出三类主流技术范式，并在相互借鉴中融合：</a:t>
            </a:r>
            <a:endParaRPr lang="zh-CN" altLang="en-US" sz="2400">
              <a:solidFill>
                <a:schemeClr val="bg1"/>
              </a:solidFill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716915" y="2038350"/>
          <a:ext cx="10756900" cy="586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945"/>
                <a:gridCol w="2795270"/>
                <a:gridCol w="2250440"/>
                <a:gridCol w="2159000"/>
                <a:gridCol w="17062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范式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核心逻辑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代表项目（全球）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代表项目（中国）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融合趋势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推理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行动循环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基于</a:t>
                      </a:r>
                      <a:r>
                        <a:rPr lang="en-US" altLang="zh-CN"/>
                        <a:t>ReAct</a:t>
                      </a:r>
                      <a:r>
                        <a:rPr lang="zh-CN" altLang="en-US"/>
                        <a:t>等模式，强调自主规划、执行与反思的单一智能体自动化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AutoGPT, BabyAGI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阿里的</a:t>
                      </a:r>
                      <a:r>
                        <a:rPr lang="en-US" altLang="zh-CN"/>
                        <a:t>AgentScope</a:t>
                      </a:r>
                      <a:r>
                        <a:rPr lang="zh-CN" altLang="en-US"/>
                        <a:t>（更注重分布式与稳定性）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借鉴多智能体思路，引入子任务分解与自我辩论机制，提升复杂任务成功率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多智能体协作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模拟社会分工，通过角色化智能体间的对话、协商与竞争完成任务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微软的</a:t>
                      </a:r>
                      <a:r>
                        <a:rPr lang="en-US" altLang="zh-CN"/>
                        <a:t>AutoGen, CrewAI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智谱的</a:t>
                      </a:r>
                      <a:r>
                        <a:rPr lang="en-US" altLang="zh-CN"/>
                        <a:t>ChatDev</a:t>
                      </a:r>
                      <a:r>
                        <a:rPr lang="zh-CN" altLang="en-US"/>
                        <a:t>、字节的</a:t>
                      </a:r>
                      <a:r>
                        <a:rPr lang="en-US" altLang="zh-CN"/>
                        <a:t>Trae Agent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从自由对话转向结构化工作流（如</a:t>
                      </a:r>
                      <a:r>
                        <a:rPr lang="en-US" altLang="zh-CN"/>
                        <a:t>LangGraph</a:t>
                      </a:r>
                      <a:r>
                        <a:rPr lang="zh-CN" altLang="en-US"/>
                        <a:t>），平衡灵活性与可控性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框架与平台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提供模块化、可插拔的组件，降低智能体应用的开发门槛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LangChain/LangGraph, Vercel AI SDK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Dify, ModelScope</a:t>
                      </a:r>
                      <a:r>
                        <a:rPr lang="zh-CN" altLang="en-US"/>
                        <a:t>（魔搭）的</a:t>
                      </a:r>
                      <a:r>
                        <a:rPr lang="en-US" altLang="zh-CN"/>
                        <a:t>Agent</a:t>
                      </a:r>
                      <a:r>
                        <a:rPr lang="zh-CN" altLang="en-US"/>
                        <a:t>框架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从</a:t>
                      </a:r>
                      <a:r>
                        <a:rPr lang="en-US" altLang="zh-CN"/>
                        <a:t>“</a:t>
                      </a:r>
                      <a:r>
                        <a:rPr lang="zh-CN" altLang="en-US"/>
                        <a:t>代码框架</a:t>
                      </a:r>
                      <a:r>
                        <a:rPr lang="en-US" altLang="zh-CN"/>
                        <a:t>”</a:t>
                      </a:r>
                      <a:r>
                        <a:rPr lang="zh-CN" altLang="en-US"/>
                        <a:t>向</a:t>
                      </a:r>
                      <a:r>
                        <a:rPr lang="en-US" altLang="zh-CN"/>
                        <a:t> “</a:t>
                      </a:r>
                      <a:r>
                        <a:rPr lang="zh-CN" altLang="en-US"/>
                        <a:t>低代码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无代码平台</a:t>
                      </a:r>
                      <a:r>
                        <a:rPr lang="en-US" altLang="zh-CN"/>
                        <a:t>” </a:t>
                      </a:r>
                      <a:r>
                        <a:rPr lang="zh-CN" altLang="en-US"/>
                        <a:t>演进，并集成模型市场、工具市场，形成一体化开发生态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9525"/>
            <a:ext cx="12191365" cy="690308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9260" y="149225"/>
            <a:ext cx="10610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二、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技术架构演进与开源生态图谱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05865" y="899160"/>
            <a:ext cx="59658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2</a:t>
            </a:r>
            <a:r>
              <a:rPr lang="zh-CN" altLang="en-US" sz="2400">
                <a:solidFill>
                  <a:schemeClr val="bg1"/>
                </a:solidFill>
              </a:rPr>
              <a:t>、中美开源生态特点对比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02105" y="1458595"/>
            <a:ext cx="5744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美国</a:t>
            </a:r>
            <a:r>
              <a:rPr lang="zh-CN" altLang="en-US" sz="2400">
                <a:solidFill>
                  <a:schemeClr val="bg1"/>
                </a:solidFill>
              </a:rPr>
              <a:t>：以</a:t>
            </a:r>
            <a:r>
              <a:rPr lang="en-US" altLang="zh-CN" sz="2400">
                <a:solidFill>
                  <a:schemeClr val="bg1"/>
                </a:solidFill>
              </a:rPr>
              <a:t>“</a:t>
            </a:r>
            <a:r>
              <a:rPr lang="zh-CN" altLang="en-US" sz="2400">
                <a:solidFill>
                  <a:schemeClr val="bg1"/>
                </a:solidFill>
              </a:rPr>
              <a:t>模型</a:t>
            </a:r>
            <a:r>
              <a:rPr lang="en-US" altLang="zh-CN" sz="2400">
                <a:solidFill>
                  <a:schemeClr val="bg1"/>
                </a:solidFill>
              </a:rPr>
              <a:t>+</a:t>
            </a:r>
            <a:r>
              <a:rPr lang="zh-CN" altLang="en-US" sz="2400">
                <a:solidFill>
                  <a:schemeClr val="bg1"/>
                </a:solidFill>
              </a:rPr>
              <a:t>框架</a:t>
            </a:r>
            <a:r>
              <a:rPr lang="en-US" altLang="zh-CN" sz="2400">
                <a:solidFill>
                  <a:schemeClr val="bg1"/>
                </a:solidFill>
              </a:rPr>
              <a:t>”</a:t>
            </a:r>
            <a:r>
              <a:rPr lang="zh-CN" altLang="en-US" sz="2400">
                <a:solidFill>
                  <a:schemeClr val="bg1"/>
                </a:solidFill>
              </a:rPr>
              <a:t>构建生态基石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42795" y="2018030"/>
            <a:ext cx="79787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模型层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Meta</a:t>
            </a:r>
            <a:r>
              <a:rPr lang="zh-CN" altLang="en-US">
                <a:solidFill>
                  <a:schemeClr val="bg1"/>
                </a:solidFill>
              </a:rPr>
              <a:t>的</a:t>
            </a:r>
            <a:r>
              <a:rPr lang="en-US" altLang="zh-CN">
                <a:solidFill>
                  <a:schemeClr val="bg1"/>
                </a:solidFill>
              </a:rPr>
              <a:t>Llama</a:t>
            </a:r>
            <a:r>
              <a:rPr lang="zh-CN" altLang="en-US">
                <a:solidFill>
                  <a:schemeClr val="bg1"/>
                </a:solidFill>
              </a:rPr>
              <a:t>系列是开源基石的</a:t>
            </a:r>
            <a:r>
              <a:rPr lang="en-US" altLang="zh-CN">
                <a:solidFill>
                  <a:schemeClr val="bg1"/>
                </a:solidFill>
              </a:rPr>
              <a:t>“</a:t>
            </a:r>
            <a:r>
              <a:rPr lang="zh-CN" altLang="en-US">
                <a:solidFill>
                  <a:schemeClr val="bg1"/>
                </a:solidFill>
              </a:rPr>
              <a:t>事实标准</a:t>
            </a:r>
            <a:r>
              <a:rPr lang="en-US" altLang="zh-CN">
                <a:solidFill>
                  <a:schemeClr val="bg1"/>
                </a:solidFill>
              </a:rPr>
              <a:t>”</a:t>
            </a:r>
            <a:r>
              <a:rPr lang="zh-CN" altLang="en-US">
                <a:solidFill>
                  <a:schemeClr val="bg1"/>
                </a:solidFill>
              </a:rPr>
              <a:t>，催生了庞大的微调与推理优化生态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042795" y="2805430"/>
            <a:ext cx="81133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框架层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LangChain</a:t>
            </a:r>
            <a:r>
              <a:rPr lang="zh-CN" altLang="en-US">
                <a:solidFill>
                  <a:schemeClr val="bg1"/>
                </a:solidFill>
              </a:rPr>
              <a:t>成为全球开发者的通用连接器，其模块化设计定义了智能体应用的标准结构。</a:t>
            </a:r>
            <a:r>
              <a:rPr lang="en-US" altLang="zh-CN">
                <a:solidFill>
                  <a:schemeClr val="bg1"/>
                </a:solidFill>
              </a:rPr>
              <a:t>Hugging Face</a:t>
            </a:r>
            <a:r>
              <a:rPr lang="zh-CN" altLang="en-US">
                <a:solidFill>
                  <a:schemeClr val="bg1"/>
                </a:solidFill>
              </a:rPr>
              <a:t>不仅是模型仓库，更演进为智能体工具与组件的核心集散地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46860" y="3961130"/>
            <a:ext cx="6663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中国</a:t>
            </a:r>
            <a:r>
              <a:rPr lang="zh-CN" altLang="en-US" sz="2400">
                <a:solidFill>
                  <a:schemeClr val="bg1"/>
                </a:solidFill>
              </a:rPr>
              <a:t>：以</a:t>
            </a:r>
            <a:r>
              <a:rPr lang="en-US" altLang="zh-CN" sz="2400">
                <a:solidFill>
                  <a:schemeClr val="bg1"/>
                </a:solidFill>
              </a:rPr>
              <a:t>“</a:t>
            </a:r>
            <a:r>
              <a:rPr lang="zh-CN" altLang="en-US" sz="2400">
                <a:solidFill>
                  <a:schemeClr val="bg1"/>
                </a:solidFill>
              </a:rPr>
              <a:t>平台</a:t>
            </a:r>
            <a:r>
              <a:rPr lang="en-US" altLang="zh-CN" sz="2400">
                <a:solidFill>
                  <a:schemeClr val="bg1"/>
                </a:solidFill>
              </a:rPr>
              <a:t>+</a:t>
            </a:r>
            <a:r>
              <a:rPr lang="zh-CN" altLang="en-US" sz="2400">
                <a:solidFill>
                  <a:schemeClr val="bg1"/>
                </a:solidFill>
              </a:rPr>
              <a:t>场景方案</a:t>
            </a:r>
            <a:r>
              <a:rPr lang="en-US" altLang="zh-CN" sz="2400">
                <a:solidFill>
                  <a:schemeClr val="bg1"/>
                </a:solidFill>
              </a:rPr>
              <a:t>”</a:t>
            </a:r>
            <a:r>
              <a:rPr lang="zh-CN" altLang="en-US" sz="2400">
                <a:solidFill>
                  <a:schemeClr val="bg1"/>
                </a:solidFill>
              </a:rPr>
              <a:t>加速落地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42795" y="4562475"/>
            <a:ext cx="909891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平台层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ModelScope</a:t>
            </a:r>
            <a:r>
              <a:rPr lang="zh-CN" altLang="en-US">
                <a:solidFill>
                  <a:schemeClr val="bg1"/>
                </a:solidFill>
              </a:rPr>
              <a:t>（魔搭）、</a:t>
            </a:r>
            <a:r>
              <a:rPr lang="en-US" altLang="zh-CN">
                <a:solidFill>
                  <a:schemeClr val="bg1"/>
                </a:solidFill>
              </a:rPr>
              <a:t>Dify </a:t>
            </a:r>
            <a:r>
              <a:rPr lang="zh-CN" altLang="en-US">
                <a:solidFill>
                  <a:schemeClr val="bg1"/>
                </a:solidFill>
              </a:rPr>
              <a:t>等平台不仅提供框架，更集成国内主流模型、数据集和云资源，提供端到端的应用发布与托管服务，极大简化了从想法到部署的路径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42795" y="5440680"/>
            <a:ext cx="88823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场景方案</a:t>
            </a:r>
            <a:r>
              <a:rPr lang="zh-CN" altLang="en-US">
                <a:solidFill>
                  <a:schemeClr val="bg1"/>
                </a:solidFill>
              </a:rPr>
              <a:t>：开源项目更直接地瞄准具体问题，如</a:t>
            </a:r>
            <a:r>
              <a:rPr lang="en-US" altLang="zh-CN">
                <a:solidFill>
                  <a:schemeClr val="bg1"/>
                </a:solidFill>
              </a:rPr>
              <a:t>ChatDev</a:t>
            </a:r>
            <a:r>
              <a:rPr lang="zh-CN" altLang="en-US">
                <a:solidFill>
                  <a:schemeClr val="bg1"/>
                </a:solidFill>
              </a:rPr>
              <a:t>（软件开发）、</a:t>
            </a:r>
            <a:r>
              <a:rPr lang="en-US" altLang="zh-CN">
                <a:solidFill>
                  <a:schemeClr val="bg1"/>
                </a:solidFill>
              </a:rPr>
              <a:t>OpenSPG</a:t>
            </a:r>
            <a:r>
              <a:rPr lang="zh-CN" altLang="en-US">
                <a:solidFill>
                  <a:schemeClr val="bg1"/>
                </a:solidFill>
              </a:rPr>
              <a:t>（知识图谱驱动智能体）、</a:t>
            </a:r>
            <a:r>
              <a:rPr lang="en-US" altLang="zh-CN">
                <a:solidFill>
                  <a:schemeClr val="bg1"/>
                </a:solidFill>
              </a:rPr>
              <a:t>DB-GPT</a:t>
            </a:r>
            <a:r>
              <a:rPr lang="zh-CN" altLang="en-US">
                <a:solidFill>
                  <a:schemeClr val="bg1"/>
                </a:solidFill>
              </a:rPr>
              <a:t>（数据库智能助理），提供了高度场景化的参考实现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9525"/>
            <a:ext cx="12191365" cy="690308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9260" y="149225"/>
            <a:ext cx="10610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二、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技术架构演进与开源生态图谱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05865" y="8991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3</a:t>
            </a:r>
            <a:r>
              <a:rPr lang="zh-CN" altLang="en-US" sz="2400">
                <a:solidFill>
                  <a:schemeClr val="bg1"/>
                </a:solidFill>
              </a:rPr>
              <a:t>、关键使能技术突破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46225" y="1449070"/>
            <a:ext cx="91967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①</a:t>
            </a:r>
            <a:r>
              <a:rPr lang="en-US" altLang="zh-CN" sz="2400">
                <a:solidFill>
                  <a:schemeClr val="bg1"/>
                </a:solidFill>
              </a:rPr>
              <a:t> </a:t>
            </a:r>
            <a:r>
              <a:rPr lang="zh-CN" altLang="en-US" sz="2400" b="1">
                <a:solidFill>
                  <a:schemeClr val="bg1"/>
                </a:solidFill>
              </a:rPr>
              <a:t>提示工程到工作流引擎</a:t>
            </a:r>
            <a:r>
              <a:rPr lang="zh-CN" altLang="en-US" sz="2400">
                <a:solidFill>
                  <a:schemeClr val="bg1"/>
                </a:solidFill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开发重心从精巧的提示词（</a:t>
            </a:r>
            <a:r>
              <a:rPr lang="en-US" altLang="zh-CN">
                <a:solidFill>
                  <a:schemeClr val="bg1"/>
                </a:solidFill>
              </a:rPr>
              <a:t>Prompt</a:t>
            </a:r>
            <a:r>
              <a:rPr lang="zh-CN" altLang="en-US">
                <a:solidFill>
                  <a:schemeClr val="bg1"/>
                </a:solidFill>
              </a:rPr>
              <a:t>）设计，转向可视化的、可调试的工作流引擎，使智能体的行为逻辑更加透明和可管理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13535" y="2794000"/>
            <a:ext cx="91967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②</a:t>
            </a:r>
            <a:r>
              <a:rPr lang="zh-CN" altLang="en-US" sz="2400" b="1">
                <a:solidFill>
                  <a:schemeClr val="bg1"/>
                </a:solidFill>
              </a:rPr>
              <a:t>工具调用标准化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OpenAI</a:t>
            </a:r>
            <a:r>
              <a:rPr lang="zh-CN" altLang="en-US">
                <a:solidFill>
                  <a:schemeClr val="bg1"/>
                </a:solidFill>
              </a:rPr>
              <a:t>的</a:t>
            </a:r>
            <a:r>
              <a:rPr lang="en-US" altLang="zh-CN">
                <a:solidFill>
                  <a:schemeClr val="bg1"/>
                </a:solidFill>
              </a:rPr>
              <a:t>MCP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Google</a:t>
            </a:r>
            <a:r>
              <a:rPr lang="zh-CN" altLang="en-US">
                <a:solidFill>
                  <a:schemeClr val="bg1"/>
                </a:solidFill>
              </a:rPr>
              <a:t>的</a:t>
            </a:r>
            <a:r>
              <a:rPr lang="en-US" altLang="zh-CN">
                <a:solidFill>
                  <a:schemeClr val="bg1"/>
                </a:solidFill>
              </a:rPr>
              <a:t>AIPlatform</a:t>
            </a:r>
            <a:r>
              <a:rPr lang="zh-CN" altLang="en-US">
                <a:solidFill>
                  <a:schemeClr val="bg1"/>
                </a:solidFill>
              </a:rPr>
              <a:t>的工具调用协议，正试图成为智能体连接外部</a:t>
            </a:r>
            <a:r>
              <a:rPr lang="en-US" altLang="zh-CN">
                <a:solidFill>
                  <a:schemeClr val="bg1"/>
                </a:solidFill>
              </a:rPr>
              <a:t>API</a:t>
            </a:r>
            <a:r>
              <a:rPr lang="zh-CN" altLang="en-US">
                <a:solidFill>
                  <a:schemeClr val="bg1"/>
                </a:solidFill>
              </a:rPr>
              <a:t>和数据的通用标准，解决集成碎片化问题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13535" y="4298315"/>
            <a:ext cx="91967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③</a:t>
            </a:r>
            <a:r>
              <a:rPr lang="zh-CN" altLang="en-US" sz="2400" b="1">
                <a:solidFill>
                  <a:schemeClr val="bg1"/>
                </a:solidFill>
              </a:rPr>
              <a:t>评估与基准测试</a:t>
            </a:r>
            <a:r>
              <a:rPr lang="zh-CN" altLang="en-US" sz="2400">
                <a:solidFill>
                  <a:schemeClr val="bg1"/>
                </a:solidFill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针对智能体的系统性评估框架（如</a:t>
            </a:r>
            <a:r>
              <a:rPr lang="en-US" altLang="zh-CN">
                <a:solidFill>
                  <a:schemeClr val="bg1"/>
                </a:solidFill>
              </a:rPr>
              <a:t>AgentBench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>
                <a:solidFill>
                  <a:schemeClr val="bg1"/>
                </a:solidFill>
              </a:rPr>
              <a:t>AgentBoard</a:t>
            </a:r>
            <a:r>
              <a:rPr lang="zh-CN" altLang="en-US">
                <a:solidFill>
                  <a:schemeClr val="bg1"/>
                </a:solidFill>
              </a:rPr>
              <a:t>）正在建立，推动行业从定性演示走向定量评估与性能优化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9525"/>
            <a:ext cx="12191365" cy="690308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9260" y="149225"/>
            <a:ext cx="10610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三、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应用落地、挑战与未来趋势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05865" y="899160"/>
            <a:ext cx="6045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</a:rPr>
              <a:t>、全球重点应用领域落地情况</a:t>
            </a:r>
            <a:endParaRPr lang="zh-CN" altLang="en-US" sz="240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128395" y="1525905"/>
          <a:ext cx="9413875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/>
                <a:gridCol w="314769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领域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全球领先应用案例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全球领先应用案例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成熟度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软件开发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GitHub Copilot Workspace</a:t>
                      </a:r>
                      <a:r>
                        <a:rPr lang="zh-CN" altLang="en-US"/>
                        <a:t>（全流程）、</a:t>
                      </a:r>
                      <a:r>
                        <a:rPr lang="en-US" altLang="zh-CN"/>
                        <a:t>Devika</a:t>
                      </a:r>
                      <a:r>
                        <a:rPr lang="zh-CN" altLang="en-US"/>
                        <a:t>（开源对标）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阿里的通义灵码、字节的</a:t>
                      </a:r>
                      <a:r>
                        <a:rPr lang="en-US" altLang="zh-CN"/>
                        <a:t>Trae Agent</a:t>
                      </a:r>
                      <a:r>
                        <a:rPr lang="zh-CN" altLang="en-US"/>
                        <a:t>、智谱的</a:t>
                      </a:r>
                      <a:r>
                        <a:rPr lang="en-US" altLang="zh-CN"/>
                        <a:t>ChatDev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高（已成为开发者标配）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企业服务与办公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Microsoft 365 Copilot</a:t>
                      </a:r>
                      <a:r>
                        <a:rPr lang="zh-CN" altLang="en-US"/>
                        <a:t>、</a:t>
                      </a:r>
                      <a:r>
                        <a:rPr lang="en-US" altLang="zh-CN"/>
                        <a:t>Salesforce Einstein GPT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钉钉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企微</a:t>
                      </a:r>
                      <a:r>
                        <a:rPr lang="en-US" altLang="zh-CN"/>
                        <a:t>AI</a:t>
                      </a:r>
                      <a:r>
                        <a:rPr lang="zh-CN" altLang="en-US"/>
                        <a:t>助手、百度如流、金山</a:t>
                      </a:r>
                      <a:r>
                        <a:rPr lang="en-US" altLang="zh-CN"/>
                        <a:t>WPS AI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中高（快速普及中）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客户交互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复杂的多轮对话客服、个性化营销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电商导购、政务热线助手、数字人直播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科学研究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AI Lab Assistant</a:t>
                      </a:r>
                      <a:r>
                        <a:rPr lang="zh-CN" altLang="en-US"/>
                        <a:t>（文献分析、实验设计）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科学计算、药物发现、材料模拟领域的专用智能体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早期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具身智能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Google</a:t>
                      </a:r>
                      <a:r>
                        <a:rPr lang="zh-CN" altLang="en-US"/>
                        <a:t>的</a:t>
                      </a:r>
                      <a:r>
                        <a:rPr lang="en-US" altLang="zh-CN"/>
                        <a:t>RT-2</a:t>
                      </a:r>
                      <a:r>
                        <a:rPr lang="zh-CN" altLang="en-US"/>
                        <a:t>、</a:t>
                      </a:r>
                      <a:r>
                        <a:rPr lang="en-US" altLang="zh-CN"/>
                        <a:t>Figure 01</a:t>
                      </a:r>
                      <a:r>
                        <a:rPr lang="zh-CN" altLang="en-US"/>
                        <a:t>人形机器人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国内机器人公司的运动控制、具身决策模型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前沿探索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9525"/>
            <a:ext cx="12191365" cy="690308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9260" y="149225"/>
            <a:ext cx="10610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三、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应用落地、挑战与未来趋势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05865" y="8991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2</a:t>
            </a:r>
            <a:r>
              <a:rPr lang="zh-CN" altLang="en-US" sz="2400">
                <a:solidFill>
                  <a:schemeClr val="bg1"/>
                </a:solidFill>
              </a:rPr>
              <a:t>、面临的共同与区域化挑战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46225" y="1449070"/>
            <a:ext cx="91967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共同挑战</a:t>
            </a:r>
            <a:r>
              <a:rPr lang="en-US" altLang="zh-CN" sz="2400" b="1">
                <a:solidFill>
                  <a:schemeClr val="bg1"/>
                </a:solidFill>
              </a:rPr>
              <a:t>: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17980" y="41402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区域化挑战：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33880" y="2160270"/>
            <a:ext cx="7892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长链条可靠性</a:t>
            </a:r>
            <a:r>
              <a:rPr lang="zh-CN" altLang="en-US">
                <a:solidFill>
                  <a:schemeClr val="bg1"/>
                </a:solidFill>
              </a:rPr>
              <a:t>：复杂任务中，错误会累积和传播，导致最终失败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33880" y="2779395"/>
            <a:ext cx="7334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成本与延迟</a:t>
            </a:r>
            <a:r>
              <a:rPr lang="zh-CN" altLang="en-US">
                <a:solidFill>
                  <a:schemeClr val="bg1"/>
                </a:solidFill>
              </a:rPr>
              <a:t>：长上下文、多次模型调用带来高昂的</a:t>
            </a:r>
            <a:r>
              <a:rPr lang="en-US" altLang="zh-CN">
                <a:solidFill>
                  <a:schemeClr val="bg1"/>
                </a:solidFill>
              </a:rPr>
              <a:t>API</a:t>
            </a:r>
            <a:r>
              <a:rPr lang="zh-CN" altLang="en-US">
                <a:solidFill>
                  <a:schemeClr val="bg1"/>
                </a:solidFill>
              </a:rPr>
              <a:t>费用和响应延迟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33880" y="3489960"/>
            <a:ext cx="7752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安全与可控性</a:t>
            </a:r>
            <a:r>
              <a:rPr lang="zh-CN" altLang="en-US">
                <a:solidFill>
                  <a:schemeClr val="bg1"/>
                </a:solidFill>
              </a:rPr>
              <a:t>：自主行动的不可预测性、数据泄露与滥用风险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33880" y="4819650"/>
            <a:ext cx="9460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美国</a:t>
            </a:r>
            <a:r>
              <a:rPr lang="zh-CN" altLang="en-US">
                <a:solidFill>
                  <a:schemeClr val="bg1"/>
                </a:solidFill>
              </a:rPr>
              <a:t>：日益加强的</a:t>
            </a:r>
            <a:r>
              <a:rPr lang="en-US" altLang="zh-CN">
                <a:solidFill>
                  <a:schemeClr val="bg1"/>
                </a:solidFill>
              </a:rPr>
              <a:t>AI</a:t>
            </a:r>
            <a:r>
              <a:rPr lang="zh-CN" altLang="en-US">
                <a:solidFill>
                  <a:schemeClr val="bg1"/>
                </a:solidFill>
              </a:rPr>
              <a:t>出口管制可能阻碍全球开源协作；伦理争议可能延缓技术部署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33880" y="5407025"/>
            <a:ext cx="8920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中国</a:t>
            </a:r>
            <a:r>
              <a:rPr lang="zh-CN" altLang="en-US">
                <a:solidFill>
                  <a:schemeClr val="bg1"/>
                </a:solidFill>
              </a:rPr>
              <a:t>：在高端</a:t>
            </a:r>
            <a:r>
              <a:rPr lang="en-US" altLang="zh-CN">
                <a:solidFill>
                  <a:schemeClr val="bg1"/>
                </a:solidFill>
              </a:rPr>
              <a:t>AI</a:t>
            </a:r>
            <a:r>
              <a:rPr lang="zh-CN" altLang="en-US">
                <a:solidFill>
                  <a:schemeClr val="bg1"/>
                </a:solidFill>
              </a:rPr>
              <a:t>芯片上受制于人，影响大模型训练与推理的自主进化节奏；部分领域存在高质量数据短缺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9525"/>
            <a:ext cx="12191365" cy="690308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9260" y="149225"/>
            <a:ext cx="10610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  <a:sym typeface="+mn-ea"/>
              </a:rPr>
              <a:t>三、应用落地、挑战与未来趋势</a:t>
            </a:r>
            <a:endParaRPr lang="zh-CN" altLang="en-US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47775" y="89916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3</a:t>
            </a:r>
            <a:r>
              <a:rPr lang="zh-CN" altLang="en-US" sz="2400">
                <a:solidFill>
                  <a:schemeClr val="bg1"/>
                </a:solidFill>
              </a:rPr>
              <a:t>、未来趋势研判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28470" y="1803400"/>
            <a:ext cx="85217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①小型化与专业化</a:t>
            </a:r>
            <a:r>
              <a:rPr lang="zh-CN" altLang="en-US">
                <a:solidFill>
                  <a:schemeClr val="bg1"/>
                </a:solidFill>
              </a:rPr>
              <a:t>：出于成本、延迟和数据隐私考虑，未来将涌现更多针对特定场景优化的小型专业模型（</a:t>
            </a:r>
            <a:r>
              <a:rPr lang="en-US" altLang="zh-CN">
                <a:solidFill>
                  <a:schemeClr val="bg1"/>
                </a:solidFill>
              </a:rPr>
              <a:t>Small Language Models, SLMs</a:t>
            </a:r>
            <a:r>
              <a:rPr lang="zh-CN" altLang="en-US">
                <a:solidFill>
                  <a:schemeClr val="bg1"/>
                </a:solidFill>
              </a:rPr>
              <a:t>），其上运行的智能体将更高效、更专精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84350" y="3246755"/>
            <a:ext cx="85286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②多模态成为标配</a:t>
            </a:r>
            <a:r>
              <a:rPr lang="zh-CN" altLang="en-US">
                <a:solidFill>
                  <a:schemeClr val="bg1"/>
                </a:solidFill>
              </a:rPr>
              <a:t>：能够理解和生成图像、音频、视频乃至</a:t>
            </a:r>
            <a:r>
              <a:rPr lang="en-US" altLang="zh-CN">
                <a:solidFill>
                  <a:schemeClr val="bg1"/>
                </a:solidFill>
              </a:rPr>
              <a:t>3D</a:t>
            </a:r>
            <a:r>
              <a:rPr lang="zh-CN" altLang="en-US">
                <a:solidFill>
                  <a:schemeClr val="bg1"/>
                </a:solidFill>
              </a:rPr>
              <a:t>模型的多模态智能体，将成为下一代人机交互的主流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23085" y="4330065"/>
            <a:ext cx="8332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③从软件到实体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“</a:t>
            </a:r>
            <a:r>
              <a:rPr lang="zh-CN" altLang="en-US">
                <a:solidFill>
                  <a:schemeClr val="bg1"/>
                </a:solidFill>
              </a:rPr>
              <a:t>具身智能体</a:t>
            </a:r>
            <a:r>
              <a:rPr lang="en-US" altLang="zh-CN">
                <a:solidFill>
                  <a:schemeClr val="bg1"/>
                </a:solidFill>
              </a:rPr>
              <a:t>”</a:t>
            </a:r>
            <a:r>
              <a:rPr lang="zh-CN" altLang="en-US">
                <a:solidFill>
                  <a:schemeClr val="bg1"/>
                </a:solidFill>
              </a:rPr>
              <a:t>将驱动自动驾驶、机器人、物联网设备的智能化浪潮，实现与物理世界的深度互动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29435" y="5478145"/>
            <a:ext cx="83261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④中美生态的</a:t>
            </a:r>
            <a:r>
              <a:rPr lang="en-US" altLang="zh-CN">
                <a:solidFill>
                  <a:schemeClr val="bg1"/>
                </a:solidFill>
              </a:rPr>
              <a:t>“</a:t>
            </a:r>
            <a:r>
              <a:rPr lang="zh-CN" altLang="en-US">
                <a:solidFill>
                  <a:schemeClr val="bg1"/>
                </a:solidFill>
              </a:rPr>
              <a:t>选择性脱钩</a:t>
            </a:r>
            <a:r>
              <a:rPr lang="en-US" altLang="zh-CN">
                <a:solidFill>
                  <a:schemeClr val="bg1"/>
                </a:solidFill>
              </a:rPr>
              <a:t>”</a:t>
            </a:r>
            <a:r>
              <a:rPr lang="zh-CN" altLang="en-US">
                <a:solidFill>
                  <a:schemeClr val="bg1"/>
                </a:solidFill>
              </a:rPr>
              <a:t>与</a:t>
            </a:r>
            <a:r>
              <a:rPr lang="en-US" altLang="zh-CN">
                <a:solidFill>
                  <a:schemeClr val="bg1"/>
                </a:solidFill>
              </a:rPr>
              <a:t>“</a:t>
            </a:r>
            <a:r>
              <a:rPr lang="zh-CN" altLang="en-US">
                <a:solidFill>
                  <a:schemeClr val="bg1"/>
                </a:solidFill>
              </a:rPr>
              <a:t>间接连接</a:t>
            </a:r>
            <a:r>
              <a:rPr lang="en-US" altLang="zh-CN">
                <a:solidFill>
                  <a:schemeClr val="bg1"/>
                </a:solidFill>
              </a:rPr>
              <a:t>”</a:t>
            </a:r>
            <a:r>
              <a:rPr lang="zh-CN" altLang="en-US">
                <a:solidFill>
                  <a:schemeClr val="bg1"/>
                </a:solidFill>
              </a:rPr>
              <a:t>：在基础模型和</a:t>
            </a:r>
            <a:r>
              <a:rPr lang="en-US" altLang="zh-CN">
                <a:solidFill>
                  <a:schemeClr val="bg1"/>
                </a:solidFill>
              </a:rPr>
              <a:t>AI</a:t>
            </a:r>
            <a:r>
              <a:rPr lang="zh-CN" altLang="en-US">
                <a:solidFill>
                  <a:schemeClr val="bg1"/>
                </a:solidFill>
              </a:rPr>
              <a:t>基础设施层面可能出现分化，但通过开源社区、学术研究和非敏感的商业应用，两国的技术进展仍将保持某种程度的相互观察与间接影响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3153</Words>
  <Application>WPS 演示</Application>
  <PresentationFormat>宽屏</PresentationFormat>
  <Paragraphs>222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 Unicode MS</vt:lpstr>
      <vt:lpstr>Calibri</vt:lpstr>
      <vt:lpstr>微软雅黑</vt:lpstr>
      <vt:lpstr>quote-cjk-patch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故事挺多</cp:lastModifiedBy>
  <cp:revision>63</cp:revision>
  <dcterms:created xsi:type="dcterms:W3CDTF">2023-08-09T12:44:00Z</dcterms:created>
  <dcterms:modified xsi:type="dcterms:W3CDTF">2025-12-08T05:39:54Z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147C2C42609943D98CC3872D2689DCC0_12</vt:lpwstr>
  </property>
</Properties>
</file>